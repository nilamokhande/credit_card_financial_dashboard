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3" r:id="rId4"/>
    <p:sldId id="264" r:id="rId5"/>
    <p:sldId id="270" r:id="rId6"/>
    <p:sldId id="271" r:id="rId7"/>
    <p:sldId id="262" r:id="rId8"/>
    <p:sldId id="265" r:id="rId9"/>
    <p:sldId id="266" r:id="rId10"/>
    <p:sldId id="267" r:id="rId11"/>
    <p:sldId id="268" r:id="rId12"/>
    <p:sldId id="269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  <a:srgbClr val="FA950E"/>
    <a:srgbClr val="16E8F2"/>
    <a:srgbClr val="C7970F"/>
    <a:srgbClr val="267C7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69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DDAA28-93DE-4C21-91EF-94D8C8B1ED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6A7D14-B73A-47F2-8287-2238B2458E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0D0FA8-C2CB-4260-8E57-E6E0C9DE3B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F9A7F-449A-4ACA-BC6F-2B8E60617105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C5ACDC-28E5-473F-AD07-960B5B12A9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A7047D-D28F-4F6F-BDAA-F594BA7EA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B6D2A-B325-4E3D-BF57-500472180F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98033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DD547D-2A1C-404A-8AE6-67E2182D38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8B9B3D-72B8-4C34-A8D7-49497D8AB7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6F0814-FF3D-4B42-A260-96EDF602DB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F9A7F-449A-4ACA-BC6F-2B8E60617105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FB99CA-F53E-487D-968F-97117661B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D051F5-00D6-4550-877C-36DC08BAB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B6D2A-B325-4E3D-BF57-500472180F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0659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D9D6B-82F7-48BA-BC15-1194D5CFB7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A92172-74CB-49CE-8BF5-75B4D2F0EF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738B1-AA4E-4A0C-A1C4-60CD236F6E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F9A7F-449A-4ACA-BC6F-2B8E60617105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66642B-8082-41C7-B1F7-E7CCBCD64E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BFCC52-80BB-4E66-8947-40428E30E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B6D2A-B325-4E3D-BF57-500472180F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11081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E9B61-B0A0-41BE-B2E3-9D05D52C9C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F1EFBF-0CF9-4CD8-8DE7-5507A8362F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646138-F13A-4991-B898-F6E386C820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0A2F44-C2B8-4056-8429-A62772BD2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F9A7F-449A-4ACA-BC6F-2B8E60617105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382A1C-02A7-4009-B5FA-2C59F71588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F9815F-B933-467B-8231-4AB811BC89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B6D2A-B325-4E3D-BF57-500472180F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38612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A5229-F4EB-4E8F-960E-D601DA4C0D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3117A6-E099-4012-9D84-38297517F2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205028-B695-431D-A75A-328138A5D1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A8E5B42-5C43-48E6-B517-E16E5AEB89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62CBC24-0EDF-410F-AE7D-277119ECE5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1C1C79C-62AE-4E00-ACA3-4D92984F7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F9A7F-449A-4ACA-BC6F-2B8E60617105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8326AC-ED4F-45E7-996A-7E14BF961E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868F20-57BD-4E0A-86B3-5662E1070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B6D2A-B325-4E3D-BF57-500472180F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99442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C7D42-BE0F-4B15-AEB4-4B6BFA2131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4F360EB-502B-4FE7-8A82-1D75A9E0E7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F9A7F-449A-4ACA-BC6F-2B8E60617105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62A94C-695C-47D3-A2AD-C7272C56CE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DEA81C-CEA8-4D0C-832D-4B7F19D62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B6D2A-B325-4E3D-BF57-500472180F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25609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AA5A87D-91F8-4901-9444-0525AC7A7B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F9A7F-449A-4ACA-BC6F-2B8E60617105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66ADBD1-3968-4162-8489-139C042EAB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680C67-F840-459A-8E4B-C754E0D85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B6D2A-B325-4E3D-BF57-500472180F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29066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13B59-C533-4489-857E-6819A6E289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344FA9-2935-4F2C-9ABE-82BBD0BDE0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B25233-6D3A-4AFD-B807-F2370C91B7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D56E13-D608-4BCB-B21C-CD861A6CF3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F9A7F-449A-4ACA-BC6F-2B8E60617105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26E30B-547E-4031-802B-56A54BA277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27AE79-360F-4FF5-8CFA-C25D17E85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B6D2A-B325-4E3D-BF57-500472180F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01612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51280B-47AB-4E67-B627-FDA9B37F9A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E76676-6C10-4747-A58D-2FFD6D9695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2FF92F-EB32-471D-9F4F-155C63EF29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AF5786-CDED-4044-BBDB-3DE9BA426D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F9A7F-449A-4ACA-BC6F-2B8E60617105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65B6AC-7810-444C-A2B0-4A73236F93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7D6DA3-A9A9-430E-85AC-475DE21F4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B6D2A-B325-4E3D-BF57-500472180F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04246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B9794B-35E7-42B7-95F3-35E3A03D7F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1A760A-615D-4420-9A5A-4CF13B1A91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3D5E1C-3816-4805-8EB1-248F971EE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F9A7F-449A-4ACA-BC6F-2B8E60617105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83A408-E645-4B55-939F-EC1CDA48F2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833A42-11C9-4619-A3D0-2B4F2DA6B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B6D2A-B325-4E3D-BF57-500472180F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88831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F565E2F-66B5-4012-8963-972242E7E6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D624E7-8DAB-4FD1-A6A6-FC7FCE894C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7F61DD-54A4-4598-B9CA-27294057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F9A7F-449A-4ACA-BC6F-2B8E60617105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BDBA85-DF7B-4417-B35F-78AD4D789D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153E8D-3A17-4748-A8C6-06928BF2D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B6D2A-B325-4E3D-BF57-500472180F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01397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2460513-A198-4B0E-8940-4A888D7967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D5484D-C29F-4506-B398-030A27360B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080B7D-C67F-4517-85AD-1FB9833C35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6F9A7F-449A-4ACA-BC6F-2B8E60617105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83D98F-BDB1-41CA-8297-ECDB903357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94F72B-CFC6-4E5F-B787-BB3E52CA04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EB6D2A-B325-4E3D-BF57-500472180F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94926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creativecommons.org/licenses/by-nc/3.0/" TargetMode="External"/><Relationship Id="rId4" Type="http://schemas.openxmlformats.org/officeDocument/2006/relationships/hyperlink" Target="https://freepngimg.com/png/26049-stock-market-graph-up-file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icpedia.org/credit-cards/credit-cards11.html" TargetMode="External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freepngimg.com/png/26049-stock-market-graph-up-file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openclipart.org/detail/183575" TargetMode="External"/><Relationship Id="rId5" Type="http://schemas.openxmlformats.org/officeDocument/2006/relationships/image" Target="../media/image7.png"/><Relationship Id="rId4" Type="http://schemas.openxmlformats.org/officeDocument/2006/relationships/hyperlink" Target="https://creativecommons.org/licenses/by-nc/3.0/" TargetMode="Externa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1CE9A4-DA7E-4725-B3A6-A6D58998151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008592-A7FE-4BD8-9CC4-F1ACBF2B530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10E2FAC-647A-4499-A3CB-76E49E60CD89}"/>
              </a:ext>
            </a:extLst>
          </p:cNvPr>
          <p:cNvSpPr/>
          <p:nvPr/>
        </p:nvSpPr>
        <p:spPr>
          <a:xfrm>
            <a:off x="1" y="0"/>
            <a:ext cx="12191999" cy="6858000"/>
          </a:xfrm>
          <a:prstGeom prst="roundRect">
            <a:avLst/>
          </a:prstGeom>
          <a:solidFill>
            <a:srgbClr val="267C7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highlight>
                <a:srgbClr val="16E8F2"/>
              </a:highlight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960B10A-5E12-4482-BA08-D0FA969E29D5}"/>
              </a:ext>
            </a:extLst>
          </p:cNvPr>
          <p:cNvSpPr/>
          <p:nvPr/>
        </p:nvSpPr>
        <p:spPr>
          <a:xfrm>
            <a:off x="773372" y="474825"/>
            <a:ext cx="11100179" cy="1655763"/>
          </a:xfrm>
          <a:prstGeom prst="roundRect">
            <a:avLst/>
          </a:prstGeom>
          <a:solidFill>
            <a:srgbClr val="FA950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>
                <a:highlight>
                  <a:srgbClr val="008080"/>
                </a:highlight>
              </a:rPr>
              <a:t>Credit Card Financial Analysis</a:t>
            </a:r>
            <a:endParaRPr lang="en-IN" sz="4800" b="1" dirty="0">
              <a:highlight>
                <a:srgbClr val="008080"/>
              </a:highlight>
            </a:endParaRPr>
          </a:p>
          <a:p>
            <a:pPr algn="ctr"/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AD85DB-3523-41A9-862B-F182CB8AC4AA}"/>
              </a:ext>
            </a:extLst>
          </p:cNvPr>
          <p:cNvSpPr txBox="1"/>
          <p:nvPr/>
        </p:nvSpPr>
        <p:spPr>
          <a:xfrm>
            <a:off x="773373" y="459918"/>
            <a:ext cx="1086361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IN" sz="5400" dirty="0">
              <a:highlight>
                <a:srgbClr val="008080"/>
              </a:highlight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80F73BD-7FEA-4266-8896-90C9398F0F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2772" y="3598707"/>
            <a:ext cx="5227092" cy="2912826"/>
          </a:xfrm>
          <a:prstGeom prst="rect">
            <a:avLst/>
          </a:prstGeom>
          <a:effectLst>
            <a:outerShdw blurRad="50800" dist="50800" dir="1200000" algn="ctr" rotWithShape="0">
              <a:srgbClr val="000000">
                <a:alpha val="43137"/>
              </a:srgbClr>
            </a:outerShdw>
            <a:reflection endPos="0" dist="50800" dir="5400000" sy="-100000" algn="bl" rotWithShape="0"/>
          </a:effectLst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937F21C-AA7E-4B52-9798-01D5A4CC3AB3}"/>
              </a:ext>
            </a:extLst>
          </p:cNvPr>
          <p:cNvSpPr/>
          <p:nvPr/>
        </p:nvSpPr>
        <p:spPr>
          <a:xfrm>
            <a:off x="2727276" y="2316163"/>
            <a:ext cx="7192370" cy="818866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Power Bi + SQL Project</a:t>
            </a:r>
            <a:endParaRPr lang="en-IN" sz="2800" b="1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E994B35-2FF2-455C-A6C1-26C9A6B252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-285353" y="2547321"/>
            <a:ext cx="4501260" cy="451664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C8C9631-6DA8-4A5C-B4F5-B8ACBA9F406A}"/>
              </a:ext>
            </a:extLst>
          </p:cNvPr>
          <p:cNvSpPr txBox="1"/>
          <p:nvPr/>
        </p:nvSpPr>
        <p:spPr>
          <a:xfrm>
            <a:off x="773371" y="6970787"/>
            <a:ext cx="535229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>
                <a:hlinkClick r:id="rId4" tooltip="https://freepngimg.com/png/26049-stock-market-graph-up-file"/>
              </a:rPr>
              <a:t>This Photo</a:t>
            </a:r>
            <a:r>
              <a:rPr lang="en-IN" sz="900"/>
              <a:t> by Unknown Author is licensed under </a:t>
            </a:r>
            <a:r>
              <a:rPr lang="en-IN" sz="900">
                <a:hlinkClick r:id="rId5" tooltip="https://creativecommons.org/licenses/by-nc/3.0/"/>
              </a:rPr>
              <a:t>CC BY-NC</a:t>
            </a:r>
            <a:endParaRPr lang="en-IN" sz="900"/>
          </a:p>
        </p:txBody>
      </p:sp>
    </p:spTree>
    <p:extLst>
      <p:ext uri="{BB962C8B-B14F-4D97-AF65-F5344CB8AC3E}">
        <p14:creationId xmlns:p14="http://schemas.microsoft.com/office/powerpoint/2010/main" val="18710067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E859A0-6D1C-47A0-9245-77D3B03AD7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20A4C661-0539-485F-BC8B-A4553A60DF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3214319" y="1825625"/>
            <a:ext cx="5763361" cy="4351338"/>
          </a:xfr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60B13C7-C626-4B8E-ACBE-052CB61D9B6D}"/>
              </a:ext>
            </a:extLst>
          </p:cNvPr>
          <p:cNvSpPr/>
          <p:nvPr/>
        </p:nvSpPr>
        <p:spPr>
          <a:xfrm>
            <a:off x="-1" y="0"/>
            <a:ext cx="12191999" cy="6858000"/>
          </a:xfrm>
          <a:prstGeom prst="roundRect">
            <a:avLst/>
          </a:prstGeom>
          <a:solidFill>
            <a:srgbClr val="267C7E"/>
          </a:solidFill>
          <a:effectLst>
            <a:reflection stA="45000" endPos="0" dist="762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592EFDD-41FE-461E-AEED-4A330EF32A53}"/>
              </a:ext>
            </a:extLst>
          </p:cNvPr>
          <p:cNvSpPr/>
          <p:nvPr/>
        </p:nvSpPr>
        <p:spPr>
          <a:xfrm>
            <a:off x="773372" y="474825"/>
            <a:ext cx="11100179" cy="1655763"/>
          </a:xfrm>
          <a:prstGeom prst="roundRect">
            <a:avLst/>
          </a:prstGeom>
          <a:solidFill>
            <a:srgbClr val="FA950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>
                <a:highlight>
                  <a:srgbClr val="008080"/>
                </a:highlight>
              </a:rPr>
              <a:t>Credit Card Financial Analysis</a:t>
            </a:r>
            <a:endParaRPr lang="en-IN" sz="4800" b="1" dirty="0">
              <a:highlight>
                <a:srgbClr val="008080"/>
              </a:highlight>
            </a:endParaRPr>
          </a:p>
          <a:p>
            <a:pPr algn="ctr"/>
            <a:endParaRPr lang="en-IN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76ADCA2-BA58-4DE2-99F7-59621052E42E}"/>
              </a:ext>
            </a:extLst>
          </p:cNvPr>
          <p:cNvSpPr/>
          <p:nvPr/>
        </p:nvSpPr>
        <p:spPr>
          <a:xfrm>
            <a:off x="1448936" y="2605413"/>
            <a:ext cx="5924322" cy="3405658"/>
          </a:xfrm>
          <a:prstGeom prst="roundRect">
            <a:avLst/>
          </a:prstGeom>
          <a:gradFill flip="none" rotWithShape="1">
            <a:gsLst>
              <a:gs pos="94500">
                <a:srgbClr val="26628F"/>
              </a:gs>
              <a:gs pos="92000">
                <a:srgbClr val="C7970F"/>
              </a:gs>
              <a:gs pos="78000">
                <a:srgbClr val="266D88"/>
              </a:gs>
              <a:gs pos="40000">
                <a:srgbClr val="267C7E"/>
              </a:gs>
              <a:gs pos="51000">
                <a:srgbClr val="C7970F"/>
              </a:gs>
            </a:gsLst>
            <a:path path="shape">
              <a:fillToRect l="50000" t="50000" r="50000" b="50000"/>
            </a:path>
            <a:tileRect/>
          </a:gra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Name – </a:t>
            </a:r>
            <a:r>
              <a:rPr lang="en-US" sz="2000" b="1" dirty="0" err="1"/>
              <a:t>Nilam</a:t>
            </a:r>
            <a:r>
              <a:rPr lang="en-US" sz="2000" b="1" dirty="0"/>
              <a:t> </a:t>
            </a:r>
            <a:r>
              <a:rPr lang="en-US" sz="2000" b="1" dirty="0" err="1"/>
              <a:t>Lokhande</a:t>
            </a:r>
            <a:endParaRPr lang="en-US" sz="2000" b="1" dirty="0"/>
          </a:p>
          <a:p>
            <a:pPr algn="ctr"/>
            <a:r>
              <a:rPr lang="en-US" sz="2000" b="1" dirty="0"/>
              <a:t>Project – Credit Card Transaction And Customers Analysis</a:t>
            </a:r>
          </a:p>
          <a:p>
            <a:pPr algn="ctr"/>
            <a:r>
              <a:rPr lang="en-US" sz="2000" b="1" dirty="0"/>
              <a:t>Tool – Power Bi + SQL</a:t>
            </a:r>
          </a:p>
          <a:p>
            <a:pPr algn="ctr"/>
            <a:endParaRPr lang="en-US" sz="2000" b="1" dirty="0"/>
          </a:p>
          <a:p>
            <a:pPr algn="ctr"/>
            <a:r>
              <a:rPr lang="en-US" sz="2000" b="1" dirty="0" err="1"/>
              <a:t>Linkedin</a:t>
            </a:r>
            <a:r>
              <a:rPr lang="en-US" sz="2000" b="1" dirty="0"/>
              <a:t> – https://www.linkedin.com/in/nilam-lokhande-b043a2376/ </a:t>
            </a:r>
          </a:p>
          <a:p>
            <a:r>
              <a:rPr lang="en-US" sz="2000" b="1" dirty="0"/>
              <a:t>  </a:t>
            </a:r>
            <a:r>
              <a:rPr lang="en-US" sz="2000" b="1" dirty="0" err="1"/>
              <a:t>Github</a:t>
            </a:r>
            <a:r>
              <a:rPr lang="en-US" sz="2000" b="1" dirty="0"/>
              <a:t> - https://github.com/nilamokhande/ 	         </a:t>
            </a:r>
            <a:r>
              <a:rPr lang="en-US" sz="2000" b="1" dirty="0" err="1"/>
              <a:t>Credit_card_Financial_Dashboard</a:t>
            </a:r>
            <a:endParaRPr lang="en-IN" sz="2000" b="1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6CF37AB-75D5-456C-AA44-61EF11792CB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9236" y="2803526"/>
            <a:ext cx="4269938" cy="2747962"/>
          </a:xfrm>
          <a:prstGeom prst="rect">
            <a:avLst/>
          </a:prstGeom>
          <a:gradFill>
            <a:gsLst>
              <a:gs pos="94500">
                <a:srgbClr val="26628F"/>
              </a:gs>
              <a:gs pos="92000">
                <a:srgbClr val="C7970F"/>
              </a:gs>
              <a:gs pos="68000">
                <a:srgbClr val="266D88"/>
              </a:gs>
              <a:gs pos="40000">
                <a:srgbClr val="267C7E"/>
              </a:gs>
              <a:gs pos="55770">
                <a:srgbClr val="267682"/>
              </a:gs>
              <a:gs pos="13000">
                <a:srgbClr val="C7970F"/>
              </a:gs>
            </a:gsLst>
            <a:path path="rect">
              <a:fillToRect l="100000" t="100000"/>
            </a:path>
          </a:gradFill>
          <a:effectLst>
            <a:outerShdw blurRad="279400" dist="50800" dir="16140000" sx="105000" sy="105000" algn="ctr" rotWithShape="0">
              <a:srgbClr val="000000"/>
            </a:outerShdw>
            <a:reflection stA="76000" endPos="59000" dist="508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5240507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45392C6-0CEB-4B79-ACD2-19053931192C}"/>
              </a:ext>
            </a:extLst>
          </p:cNvPr>
          <p:cNvSpPr/>
          <p:nvPr/>
        </p:nvSpPr>
        <p:spPr>
          <a:xfrm>
            <a:off x="-36394" y="-68239"/>
            <a:ext cx="12191999" cy="6858000"/>
          </a:xfrm>
          <a:prstGeom prst="roundRect">
            <a:avLst/>
          </a:prstGeom>
          <a:solidFill>
            <a:srgbClr val="267C7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D1510FF-D447-4234-ACEE-8A473647C788}"/>
              </a:ext>
            </a:extLst>
          </p:cNvPr>
          <p:cNvSpPr/>
          <p:nvPr/>
        </p:nvSpPr>
        <p:spPr>
          <a:xfrm>
            <a:off x="773373" y="444118"/>
            <a:ext cx="11100179" cy="1439273"/>
          </a:xfrm>
          <a:prstGeom prst="roundRect">
            <a:avLst/>
          </a:prstGeom>
          <a:solidFill>
            <a:srgbClr val="FA950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>
                <a:highlight>
                  <a:srgbClr val="008080"/>
                </a:highlight>
              </a:rPr>
              <a:t>Credit Card Financial Analysis</a:t>
            </a:r>
            <a:endParaRPr lang="en-IN" sz="4800" b="1" dirty="0">
              <a:highlight>
                <a:srgbClr val="008080"/>
              </a:highlight>
            </a:endParaRPr>
          </a:p>
          <a:p>
            <a:pPr algn="ctr"/>
            <a:endParaRPr lang="en-IN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E830021-52CD-4B40-A0F8-2D113D29BFF5}"/>
              </a:ext>
            </a:extLst>
          </p:cNvPr>
          <p:cNvSpPr/>
          <p:nvPr/>
        </p:nvSpPr>
        <p:spPr>
          <a:xfrm>
            <a:off x="3766782" y="2279176"/>
            <a:ext cx="4612943" cy="805218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highlight>
                  <a:srgbClr val="008000"/>
                </a:highlight>
              </a:rPr>
              <a:t>Project Overview / Objective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2839A22-FFD3-4624-AA11-BC04CCE99E0F}"/>
              </a:ext>
            </a:extLst>
          </p:cNvPr>
          <p:cNvSpPr txBox="1"/>
          <p:nvPr/>
        </p:nvSpPr>
        <p:spPr>
          <a:xfrm>
            <a:off x="1282890" y="3429000"/>
            <a:ext cx="95534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This project analyzes credit card transactions and customer data to identify spending trends, customer segmentation, and revenue insights using Power BI and SQL.</a:t>
            </a:r>
            <a:endParaRPr lang="en-IN" sz="2000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5E92BF90-F1F8-45FF-B6DA-FB0371C80DB6}"/>
              </a:ext>
            </a:extLst>
          </p:cNvPr>
          <p:cNvSpPr/>
          <p:nvPr/>
        </p:nvSpPr>
        <p:spPr>
          <a:xfrm>
            <a:off x="4872250" y="4367100"/>
            <a:ext cx="1733266" cy="493117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highlight>
                  <a:srgbClr val="008000"/>
                </a:highlight>
              </a:rPr>
              <a:t>Goals</a:t>
            </a:r>
            <a:endParaRPr lang="en-IN" b="1" dirty="0">
              <a:highlight>
                <a:srgbClr val="008000"/>
              </a:highlight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FCC5E3E-2CB0-4F02-8EA1-8B7585340B1B}"/>
              </a:ext>
            </a:extLst>
          </p:cNvPr>
          <p:cNvSpPr txBox="1"/>
          <p:nvPr/>
        </p:nvSpPr>
        <p:spPr>
          <a:xfrm>
            <a:off x="1282890" y="5090615"/>
            <a:ext cx="9266829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Track total revenue and weekly performance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Analyze customer behavior by age, income, and satisfaction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Identify key revenue-driving payment modes and card categories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506440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10357B9-261E-4E7B-9549-344B8B83340F}"/>
              </a:ext>
            </a:extLst>
          </p:cNvPr>
          <p:cNvSpPr/>
          <p:nvPr/>
        </p:nvSpPr>
        <p:spPr>
          <a:xfrm>
            <a:off x="1" y="0"/>
            <a:ext cx="12191999" cy="6858000"/>
          </a:xfrm>
          <a:prstGeom prst="roundRect">
            <a:avLst/>
          </a:prstGeom>
          <a:solidFill>
            <a:srgbClr val="267C7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FF13951E-C366-4004-B98B-B288F0FB9505}"/>
              </a:ext>
            </a:extLst>
          </p:cNvPr>
          <p:cNvSpPr/>
          <p:nvPr/>
        </p:nvSpPr>
        <p:spPr>
          <a:xfrm>
            <a:off x="773373" y="444118"/>
            <a:ext cx="11100179" cy="1439273"/>
          </a:xfrm>
          <a:prstGeom prst="roundRect">
            <a:avLst/>
          </a:prstGeom>
          <a:solidFill>
            <a:srgbClr val="FA950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>
                <a:highlight>
                  <a:srgbClr val="008080"/>
                </a:highlight>
              </a:rPr>
              <a:t>Credit Card Financial Analysis</a:t>
            </a:r>
            <a:endParaRPr lang="en-IN" sz="4800" b="1" dirty="0">
              <a:highlight>
                <a:srgbClr val="008080"/>
              </a:highlight>
            </a:endParaRPr>
          </a:p>
          <a:p>
            <a:pPr algn="ctr"/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97A72F4-0823-466B-9609-94BD5A2C1F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384683"/>
              </p:ext>
            </p:extLst>
          </p:nvPr>
        </p:nvGraphicFramePr>
        <p:xfrm>
          <a:off x="838200" y="2904014"/>
          <a:ext cx="10515600" cy="3360306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42111047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586965090"/>
                    </a:ext>
                  </a:extLst>
                </a:gridCol>
              </a:tblGrid>
              <a:tr h="560051">
                <a:tc>
                  <a:txBody>
                    <a:bodyPr/>
                    <a:lstStyle/>
                    <a:p>
                      <a:r>
                        <a:rPr lang="en-IN" sz="2400" b="1">
                          <a:solidFill>
                            <a:schemeClr val="bg1"/>
                          </a:solidFill>
                        </a:rPr>
                        <a:t>Purpose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>
                          <a:solidFill>
                            <a:schemeClr val="bg1"/>
                          </a:solidFill>
                        </a:rPr>
                        <a:t>Tool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7841997"/>
                  </a:ext>
                </a:extLst>
              </a:tr>
              <a:tr h="560051">
                <a:tc>
                  <a:txBody>
                    <a:bodyPr/>
                    <a:lstStyle/>
                    <a:p>
                      <a:r>
                        <a:rPr lang="en-IN" sz="2000" dirty="0"/>
                        <a:t>Data Source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CSV files (imported to SQL)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85585759"/>
                  </a:ext>
                </a:extLst>
              </a:tr>
              <a:tr h="560051">
                <a:tc>
                  <a:txBody>
                    <a:bodyPr/>
                    <a:lstStyle/>
                    <a:p>
                      <a:r>
                        <a:rPr lang="en-IN" sz="2000"/>
                        <a:t>Database Querying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/>
                        <a:t>SQL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69032893"/>
                  </a:ext>
                </a:extLst>
              </a:tr>
              <a:tr h="560051">
                <a:tc>
                  <a:txBody>
                    <a:bodyPr/>
                    <a:lstStyle/>
                    <a:p>
                      <a:r>
                        <a:rPr lang="en-IN" sz="2000"/>
                        <a:t>Data Cleaning &amp; Modeling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Power Query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86453729"/>
                  </a:ext>
                </a:extLst>
              </a:tr>
              <a:tr h="560051">
                <a:tc>
                  <a:txBody>
                    <a:bodyPr/>
                    <a:lstStyle/>
                    <a:p>
                      <a:r>
                        <a:rPr lang="en-IN" sz="2000"/>
                        <a:t>Data Visualization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/>
                        <a:t>Power BI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2398048"/>
                  </a:ext>
                </a:extLst>
              </a:tr>
              <a:tr h="560051">
                <a:tc>
                  <a:txBody>
                    <a:bodyPr/>
                    <a:lstStyle/>
                    <a:p>
                      <a:r>
                        <a:rPr lang="en-IN" sz="2000" dirty="0"/>
                        <a:t>Calculations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DAX Measures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5810349"/>
                  </a:ext>
                </a:extLst>
              </a:tr>
            </a:tbl>
          </a:graphicData>
        </a:graphic>
      </p:graphicFrame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4F0038B-E463-4A80-BA57-EE5DDD15AE96}"/>
              </a:ext>
            </a:extLst>
          </p:cNvPr>
          <p:cNvSpPr/>
          <p:nvPr/>
        </p:nvSpPr>
        <p:spPr>
          <a:xfrm>
            <a:off x="4053384" y="2005896"/>
            <a:ext cx="3684896" cy="64322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tx1"/>
                </a:solidFill>
                <a:highlight>
                  <a:srgbClr val="008000"/>
                </a:highlight>
              </a:rPr>
              <a:t>Tools &amp; Technologie</a:t>
            </a:r>
            <a:r>
              <a:rPr lang="en-IN" sz="2800" b="1" dirty="0">
                <a:solidFill>
                  <a:schemeClr val="tx1"/>
                </a:solidFill>
                <a:highlight>
                  <a:srgbClr val="008000"/>
                </a:highlight>
              </a:rPr>
              <a:t>s</a:t>
            </a:r>
            <a:endParaRPr lang="en-IN" sz="2400" b="1" dirty="0">
              <a:solidFill>
                <a:schemeClr val="tx1"/>
              </a:solidFill>
              <a:highlight>
                <a:srgbClr val="0080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42216725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6DF921C-36EF-4F9E-8AE2-DFF13B069173}"/>
              </a:ext>
            </a:extLst>
          </p:cNvPr>
          <p:cNvSpPr/>
          <p:nvPr/>
        </p:nvSpPr>
        <p:spPr>
          <a:xfrm>
            <a:off x="0" y="41706"/>
            <a:ext cx="12191999" cy="6858000"/>
          </a:xfrm>
          <a:prstGeom prst="roundRect">
            <a:avLst/>
          </a:prstGeom>
          <a:solidFill>
            <a:srgbClr val="267C7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6E67A06-73CC-4A29-9124-6BF576D68158}"/>
              </a:ext>
            </a:extLst>
          </p:cNvPr>
          <p:cNvSpPr/>
          <p:nvPr/>
        </p:nvSpPr>
        <p:spPr>
          <a:xfrm>
            <a:off x="773372" y="474825"/>
            <a:ext cx="11100179" cy="1655763"/>
          </a:xfrm>
          <a:prstGeom prst="roundRect">
            <a:avLst/>
          </a:prstGeom>
          <a:solidFill>
            <a:srgbClr val="FA950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>
                <a:highlight>
                  <a:srgbClr val="008080"/>
                </a:highlight>
              </a:rPr>
              <a:t>Credit Card Financial Analysis</a:t>
            </a:r>
            <a:endParaRPr lang="en-IN" sz="4800" b="1" dirty="0">
              <a:highlight>
                <a:srgbClr val="008080"/>
              </a:highlight>
            </a:endParaRPr>
          </a:p>
          <a:p>
            <a:pPr algn="ctr"/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1D6DC13-5D3F-4CCE-9CAD-DFD4633F770B}"/>
              </a:ext>
            </a:extLst>
          </p:cNvPr>
          <p:cNvSpPr/>
          <p:nvPr/>
        </p:nvSpPr>
        <p:spPr>
          <a:xfrm>
            <a:off x="3985146" y="2402007"/>
            <a:ext cx="3411941" cy="573206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highlight>
                  <a:srgbClr val="008000"/>
                </a:highlight>
              </a:rPr>
              <a:t>Data Model View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8CB4EBEB-75D6-49B8-846A-991AD0C928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25600" y="2993653"/>
            <a:ext cx="4112023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cust_detail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(Customer Table)</a:t>
            </a:r>
            <a:endParaRPr kumimoji="0" lang="en-US" altLang="en-US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cc_detail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(Transaction Table)</a:t>
            </a:r>
            <a:endParaRPr kumimoji="0" lang="en-US" altLang="en-US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73C3CFDD-FEC9-4CB3-9C15-5F66940D44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4198781"/>
            <a:ext cx="12192000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A950E"/>
                </a:highlight>
                <a:latin typeface="Arial" panose="020B0604020202020204" pitchFamily="34" charset="0"/>
              </a:rPr>
              <a:t>Relationship: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cust_detail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[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Client_Num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] 1 —— *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cc_detail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[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Client_Num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]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1A16DB1-1547-4C3F-BF5C-2ABA38F3B78F}"/>
              </a:ext>
            </a:extLst>
          </p:cNvPr>
          <p:cNvSpPr txBox="1"/>
          <p:nvPr/>
        </p:nvSpPr>
        <p:spPr>
          <a:xfrm>
            <a:off x="1625600" y="5265536"/>
            <a:ext cx="675998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“ I used a star schema model with one fact table and one dimension table for better query performance.”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6217315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5DD3CEE-120E-4135-AEA0-C44926713E97}"/>
              </a:ext>
            </a:extLst>
          </p:cNvPr>
          <p:cNvSpPr/>
          <p:nvPr/>
        </p:nvSpPr>
        <p:spPr>
          <a:xfrm>
            <a:off x="1" y="26894"/>
            <a:ext cx="12191999" cy="6858000"/>
          </a:xfrm>
          <a:prstGeom prst="roundRect">
            <a:avLst/>
          </a:prstGeom>
          <a:solidFill>
            <a:srgbClr val="267C7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FB8DCE-9E0C-4B75-BE5E-942DFBF819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677FAE8-1E6F-499A-8BFF-771D72615D14}"/>
              </a:ext>
            </a:extLst>
          </p:cNvPr>
          <p:cNvSpPr/>
          <p:nvPr/>
        </p:nvSpPr>
        <p:spPr>
          <a:xfrm>
            <a:off x="773372" y="474825"/>
            <a:ext cx="11100179" cy="1655763"/>
          </a:xfrm>
          <a:prstGeom prst="roundRect">
            <a:avLst/>
          </a:prstGeom>
          <a:solidFill>
            <a:srgbClr val="FA950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>
                <a:highlight>
                  <a:srgbClr val="008080"/>
                </a:highlight>
              </a:rPr>
              <a:t>Credit Card Financial Analysis</a:t>
            </a:r>
            <a:endParaRPr lang="en-IN" sz="4800" b="1" dirty="0">
              <a:highlight>
                <a:srgbClr val="008080"/>
              </a:highlight>
            </a:endParaRPr>
          </a:p>
          <a:p>
            <a:pPr algn="ctr"/>
            <a:endParaRPr lang="en-IN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0C38D0F-BAC5-4916-8C0A-38AA2D050149}"/>
              </a:ext>
            </a:extLst>
          </p:cNvPr>
          <p:cNvSpPr/>
          <p:nvPr/>
        </p:nvSpPr>
        <p:spPr>
          <a:xfrm>
            <a:off x="3712191" y="2240288"/>
            <a:ext cx="3357349" cy="887673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tx1"/>
                </a:solidFill>
                <a:highlight>
                  <a:srgbClr val="008000"/>
                </a:highlight>
              </a:rPr>
              <a:t>DAX Measures</a:t>
            </a:r>
          </a:p>
          <a:p>
            <a:pPr algn="ctr"/>
            <a:r>
              <a:rPr lang="en-IN" sz="2400" dirty="0">
                <a:solidFill>
                  <a:schemeClr val="tx1"/>
                </a:solidFill>
                <a:highlight>
                  <a:srgbClr val="008000"/>
                </a:highlight>
              </a:rPr>
              <a:t> (Core Calculations)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635583-C8CB-42B7-BF00-E0B7725F8C34}"/>
              </a:ext>
            </a:extLst>
          </p:cNvPr>
          <p:cNvSpPr txBox="1"/>
          <p:nvPr/>
        </p:nvSpPr>
        <p:spPr>
          <a:xfrm>
            <a:off x="5597964" y="3322776"/>
            <a:ext cx="7847463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1) Revenue = '</a:t>
            </a:r>
            <a:r>
              <a:rPr lang="en-IN" sz="2000" b="1" dirty="0" err="1"/>
              <a:t>ccdb</a:t>
            </a:r>
            <a:r>
              <a:rPr lang="en-IN" sz="2000" b="1" dirty="0"/>
              <a:t> cc_detail'[Annual_Fees] </a:t>
            </a:r>
          </a:p>
          <a:p>
            <a:r>
              <a:rPr lang="en-IN" sz="2000" b="1" dirty="0"/>
              <a:t>        + '</a:t>
            </a:r>
            <a:r>
              <a:rPr lang="en-IN" sz="2000" b="1" dirty="0" err="1"/>
              <a:t>ccdb</a:t>
            </a:r>
            <a:r>
              <a:rPr lang="en-IN" sz="2000" b="1" dirty="0"/>
              <a:t> cc_detail'[Total_Trans_Amt] </a:t>
            </a:r>
          </a:p>
          <a:p>
            <a:r>
              <a:rPr lang="en-IN" sz="2000" b="1" dirty="0"/>
              <a:t>        + '</a:t>
            </a:r>
            <a:r>
              <a:rPr lang="en-IN" sz="2000" b="1" dirty="0" err="1"/>
              <a:t>ccdb</a:t>
            </a:r>
            <a:r>
              <a:rPr lang="en-IN" sz="2000" b="1" dirty="0"/>
              <a:t> </a:t>
            </a:r>
            <a:r>
              <a:rPr lang="en-IN" sz="2000" b="1" dirty="0" err="1"/>
              <a:t>cc_detail</a:t>
            </a:r>
            <a:r>
              <a:rPr lang="en-IN" sz="2000" b="1" dirty="0"/>
              <a:t>'[</a:t>
            </a:r>
            <a:r>
              <a:rPr lang="en-IN" sz="2000" b="1" dirty="0" err="1"/>
              <a:t>Interest_Earned</a:t>
            </a:r>
            <a:r>
              <a:rPr lang="en-IN" sz="2000" b="1" dirty="0"/>
              <a:t>]</a:t>
            </a:r>
          </a:p>
          <a:p>
            <a:r>
              <a:rPr lang="en-IN" sz="2000" b="1" dirty="0"/>
              <a:t>Calculates total revenue per transaction</a:t>
            </a:r>
          </a:p>
          <a:p>
            <a:endParaRPr lang="en-IN" sz="2000" b="1" dirty="0"/>
          </a:p>
          <a:p>
            <a:r>
              <a:rPr lang="en-IN" sz="2000" b="1" dirty="0"/>
              <a:t>2) WOW_Revenue = DIVIDE(</a:t>
            </a:r>
          </a:p>
          <a:p>
            <a:r>
              <a:rPr lang="en-IN" sz="2000" b="1" dirty="0"/>
              <a:t>    [Current_Week_Revenue] - [Previous_Week_Revenue],</a:t>
            </a:r>
          </a:p>
          <a:p>
            <a:r>
              <a:rPr lang="en-IN" sz="2000" b="1" dirty="0"/>
              <a:t>    [Previous_Week_Revenue],0) </a:t>
            </a:r>
          </a:p>
          <a:p>
            <a:endParaRPr lang="en-IN" sz="2000" b="1" dirty="0"/>
          </a:p>
          <a:p>
            <a:r>
              <a:rPr lang="en-IN" sz="2000" b="1" dirty="0"/>
              <a:t>3) Shows week-over-week growth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DDCBD5B-AFE3-47E5-973A-6FC73F3A0205}"/>
              </a:ext>
            </a:extLst>
          </p:cNvPr>
          <p:cNvSpPr txBox="1"/>
          <p:nvPr/>
        </p:nvSpPr>
        <p:spPr>
          <a:xfrm>
            <a:off x="773372" y="3429000"/>
            <a:ext cx="3682514" cy="3447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solidFill>
                  <a:srgbClr val="FFFF00"/>
                </a:solidFill>
                <a:latin typeface="Arial" panose="020B0604020202020204" pitchFamily="34" charset="0"/>
              </a:rPr>
              <a:t>This DAX used in Project-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 err="1">
                <a:latin typeface="Arial" panose="020B0604020202020204" pitchFamily="34" charset="0"/>
              </a:rPr>
              <a:t>AgeGroup</a:t>
            </a:r>
            <a:endParaRPr lang="en-US" altLang="en-US" sz="2000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 err="1">
                <a:latin typeface="Arial" panose="020B0604020202020204" pitchFamily="34" charset="0"/>
              </a:rPr>
              <a:t>IncomeGroup</a:t>
            </a:r>
            <a:endParaRPr lang="en-US" altLang="en-US" sz="2000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Week_num2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Revenue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 err="1">
                <a:latin typeface="Arial" panose="020B0604020202020204" pitchFamily="34" charset="0"/>
              </a:rPr>
              <a:t>Current_Week_Revenue</a:t>
            </a:r>
            <a:endParaRPr lang="en-US" altLang="en-US" sz="2000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 err="1">
                <a:latin typeface="Arial" panose="020B0604020202020204" pitchFamily="34" charset="0"/>
              </a:rPr>
              <a:t>Previous_Week_Revenue</a:t>
            </a:r>
            <a:endParaRPr lang="en-US" altLang="en-US" sz="2000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 err="1">
                <a:latin typeface="Arial" panose="020B0604020202020204" pitchFamily="34" charset="0"/>
              </a:rPr>
              <a:t>WOW_Revenue</a:t>
            </a:r>
            <a:endParaRPr lang="en-US" altLang="en-US" sz="2000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 err="1">
                <a:latin typeface="Arial" panose="020B0604020202020204" pitchFamily="34" charset="0"/>
              </a:rPr>
              <a:t>Total_Customers</a:t>
            </a:r>
            <a:endParaRPr lang="en-US" altLang="en-US" sz="2000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 err="1">
                <a:latin typeface="Arial" panose="020B0604020202020204" pitchFamily="34" charset="0"/>
              </a:rPr>
              <a:t>Total_Transactions</a:t>
            </a:r>
            <a:endParaRPr lang="en-US" altLang="en-US" sz="2000" dirty="0">
              <a:latin typeface="Arial" panose="020B0604020202020204" pitchFamily="34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75325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FA79E1D-1524-4907-B848-8C478253A8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53039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DF9B651-0877-45B3-AEE1-BA4921A83E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20459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EEECC7D-A650-43FE-AD7C-DE8FAB8EB9DF}"/>
              </a:ext>
            </a:extLst>
          </p:cNvPr>
          <p:cNvSpPr/>
          <p:nvPr/>
        </p:nvSpPr>
        <p:spPr>
          <a:xfrm>
            <a:off x="1" y="0"/>
            <a:ext cx="12191999" cy="6858000"/>
          </a:xfrm>
          <a:prstGeom prst="roundRect">
            <a:avLst/>
          </a:prstGeom>
          <a:solidFill>
            <a:srgbClr val="267C7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27C5A34-093C-4CB9-969F-D1594077591E}"/>
              </a:ext>
            </a:extLst>
          </p:cNvPr>
          <p:cNvSpPr/>
          <p:nvPr/>
        </p:nvSpPr>
        <p:spPr>
          <a:xfrm>
            <a:off x="787019" y="406586"/>
            <a:ext cx="11100179" cy="1655763"/>
          </a:xfrm>
          <a:prstGeom prst="roundRect">
            <a:avLst/>
          </a:prstGeom>
          <a:solidFill>
            <a:srgbClr val="FA950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>
                <a:highlight>
                  <a:srgbClr val="008080"/>
                </a:highlight>
              </a:rPr>
              <a:t>Credit Card Financial Analysis</a:t>
            </a:r>
            <a:endParaRPr lang="en-IN" sz="4800" b="1" dirty="0">
              <a:highlight>
                <a:srgbClr val="008080"/>
              </a:highlight>
            </a:endParaRPr>
          </a:p>
          <a:p>
            <a:pPr algn="ctr"/>
            <a:endParaRPr lang="en-IN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4340ABA-D6C2-4995-B87F-41BD75BB4AA8}"/>
              </a:ext>
            </a:extLst>
          </p:cNvPr>
          <p:cNvSpPr/>
          <p:nvPr/>
        </p:nvSpPr>
        <p:spPr>
          <a:xfrm>
            <a:off x="4121625" y="2497540"/>
            <a:ext cx="2620370" cy="736979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highlight>
                  <a:srgbClr val="008000"/>
                </a:highlight>
              </a:rPr>
              <a:t>Key Insights</a:t>
            </a:r>
            <a:endParaRPr lang="en-IN" sz="2400" b="1" dirty="0">
              <a:highlight>
                <a:srgbClr val="008000"/>
              </a:highlight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9FF3FCE1-BD31-4AE5-88BE-FE328DC427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0437" y="3429000"/>
            <a:ext cx="6974005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revenue analyzed: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$55M+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Highest revenue from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Silver cards around 31%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Swipe mode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contributed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60%+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of total transactions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Age group 40–50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generates maximum revenue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High-income group (&gt;70K)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contributes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53% of total sales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98367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6EDF2D11-3120-4945-B98E-A716E6F299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3070747" y="2062349"/>
            <a:ext cx="5186148" cy="520386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7897803-681F-482B-81A1-A5DF824AB4E3}"/>
              </a:ext>
            </a:extLst>
          </p:cNvPr>
          <p:cNvSpPr txBox="1"/>
          <p:nvPr/>
        </p:nvSpPr>
        <p:spPr>
          <a:xfrm>
            <a:off x="3070747" y="7336729"/>
            <a:ext cx="38541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>
                <a:hlinkClick r:id="rId3" tooltip="https://freepngimg.com/png/26049-stock-market-graph-up-file"/>
              </a:rPr>
              <a:t>This Photo</a:t>
            </a:r>
            <a:r>
              <a:rPr lang="en-IN" sz="900"/>
              <a:t> by Unknown Author is licensed under </a:t>
            </a:r>
            <a:r>
              <a:rPr lang="en-IN" sz="900">
                <a:hlinkClick r:id="rId4" tooltip="https://creativecommons.org/licenses/by-nc/3.0/"/>
              </a:rPr>
              <a:t>CC BY-NC</a:t>
            </a:r>
            <a:endParaRPr lang="en-IN" sz="90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3D04BDC-4F98-4466-A56E-0AEE7C8D1353}"/>
              </a:ext>
            </a:extLst>
          </p:cNvPr>
          <p:cNvSpPr/>
          <p:nvPr/>
        </p:nvSpPr>
        <p:spPr>
          <a:xfrm>
            <a:off x="1" y="0"/>
            <a:ext cx="12191999" cy="6858000"/>
          </a:xfrm>
          <a:prstGeom prst="roundRect">
            <a:avLst/>
          </a:prstGeom>
          <a:solidFill>
            <a:srgbClr val="267C7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8D91D83-BB7B-4832-BA3D-217D40A24C1D}"/>
              </a:ext>
            </a:extLst>
          </p:cNvPr>
          <p:cNvSpPr/>
          <p:nvPr/>
        </p:nvSpPr>
        <p:spPr>
          <a:xfrm>
            <a:off x="787019" y="406586"/>
            <a:ext cx="11100179" cy="1655763"/>
          </a:xfrm>
          <a:prstGeom prst="roundRect">
            <a:avLst/>
          </a:prstGeom>
          <a:solidFill>
            <a:srgbClr val="FA950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>
                <a:highlight>
                  <a:srgbClr val="008080"/>
                </a:highlight>
              </a:rPr>
              <a:t>Credit Card Financial Analysis</a:t>
            </a:r>
            <a:endParaRPr lang="en-IN" sz="4800" b="1" dirty="0">
              <a:highlight>
                <a:srgbClr val="008080"/>
              </a:highlight>
            </a:endParaRPr>
          </a:p>
          <a:p>
            <a:pPr algn="ctr"/>
            <a:endParaRPr lang="en-IN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9C9D8C0-0E18-428D-88BF-B6D2F7FDEDC7}"/>
              </a:ext>
            </a:extLst>
          </p:cNvPr>
          <p:cNvSpPr/>
          <p:nvPr/>
        </p:nvSpPr>
        <p:spPr>
          <a:xfrm>
            <a:off x="3862318" y="2468707"/>
            <a:ext cx="3179928" cy="960293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highlight>
                  <a:srgbClr val="008000"/>
                </a:highlight>
              </a:rPr>
              <a:t>Recommendations</a:t>
            </a:r>
            <a:endParaRPr lang="en-IN" sz="2400" b="1" dirty="0">
              <a:highlight>
                <a:srgbClr val="008000"/>
              </a:highligh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5CCDB8-240C-4B2E-8EE5-2783B0540D81}"/>
              </a:ext>
            </a:extLst>
          </p:cNvPr>
          <p:cNvSpPr txBox="1"/>
          <p:nvPr/>
        </p:nvSpPr>
        <p:spPr>
          <a:xfrm>
            <a:off x="2879678" y="3916907"/>
            <a:ext cx="589583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Business can grow using this my findings-</a:t>
            </a:r>
          </a:p>
          <a:p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Promote </a:t>
            </a:r>
            <a:r>
              <a:rPr lang="en-US" sz="2000" b="1" dirty="0"/>
              <a:t>online payment offers</a:t>
            </a:r>
            <a:r>
              <a:rPr lang="en-US" sz="2000" dirty="0"/>
              <a:t> for younger customers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Encourage </a:t>
            </a:r>
            <a:r>
              <a:rPr lang="en-US" sz="2000" b="1" dirty="0"/>
              <a:t>auto-pay</a:t>
            </a:r>
            <a:r>
              <a:rPr lang="en-US" sz="2000" dirty="0"/>
              <a:t> to reduce late payments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Focus marketing on </a:t>
            </a:r>
            <a:r>
              <a:rPr lang="en-US" sz="2000" b="1" dirty="0"/>
              <a:t>40–50 age group</a:t>
            </a:r>
            <a:r>
              <a:rPr lang="en-US" sz="2000" dirty="0"/>
              <a:t> of customers and </a:t>
            </a:r>
            <a:r>
              <a:rPr lang="en-US" sz="2000" b="1" dirty="0"/>
              <a:t>Platinum cards</a:t>
            </a:r>
            <a:endParaRPr lang="en-US" sz="20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0B2B466-EAB1-4714-B71B-71F2898EFB0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8391097" y="2550256"/>
            <a:ext cx="3179928" cy="3179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49644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6BA2085-48BE-4271-ACC2-C9F0CBD26ED7}"/>
              </a:ext>
            </a:extLst>
          </p:cNvPr>
          <p:cNvSpPr/>
          <p:nvPr/>
        </p:nvSpPr>
        <p:spPr>
          <a:xfrm>
            <a:off x="1" y="13447"/>
            <a:ext cx="12191999" cy="6858000"/>
          </a:xfrm>
          <a:prstGeom prst="roundRect">
            <a:avLst/>
          </a:prstGeom>
          <a:solidFill>
            <a:srgbClr val="267C7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E52823C-C010-4330-A5F4-7224D616AD57}"/>
              </a:ext>
            </a:extLst>
          </p:cNvPr>
          <p:cNvSpPr/>
          <p:nvPr/>
        </p:nvSpPr>
        <p:spPr>
          <a:xfrm>
            <a:off x="787019" y="406586"/>
            <a:ext cx="11100179" cy="1655763"/>
          </a:xfrm>
          <a:prstGeom prst="roundRect">
            <a:avLst/>
          </a:prstGeom>
          <a:solidFill>
            <a:srgbClr val="FA950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>
                <a:highlight>
                  <a:srgbClr val="008080"/>
                </a:highlight>
              </a:rPr>
              <a:t>Credit Card Financial Analysis</a:t>
            </a:r>
            <a:endParaRPr lang="en-IN" sz="4800" b="1" dirty="0">
              <a:highlight>
                <a:srgbClr val="008080"/>
              </a:highlight>
            </a:endParaRPr>
          </a:p>
          <a:p>
            <a:pPr algn="ctr"/>
            <a:endParaRPr lang="en-IN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F17DF4D-FC84-43E9-BD43-99461C35E86F}"/>
              </a:ext>
            </a:extLst>
          </p:cNvPr>
          <p:cNvSpPr/>
          <p:nvPr/>
        </p:nvSpPr>
        <p:spPr>
          <a:xfrm>
            <a:off x="4285397" y="2511188"/>
            <a:ext cx="1810603" cy="805218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highlight>
                  <a:srgbClr val="008000"/>
                </a:highlight>
              </a:rPr>
              <a:t>Learning</a:t>
            </a:r>
            <a:endParaRPr lang="en-IN" sz="2400" b="1" dirty="0">
              <a:highlight>
                <a:srgbClr val="008000"/>
              </a:highlight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20FEAF10-F333-41F1-80FF-1C8EA7E534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10334" y="3474428"/>
            <a:ext cx="5759355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modeling using Star Schema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Writing complex DAX expressions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Building dynamic dashboards with slicers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Connecting SQL → Power BI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Applying data storytelling and KPI design</a:t>
            </a:r>
          </a:p>
        </p:txBody>
      </p:sp>
    </p:spTree>
    <p:extLst>
      <p:ext uri="{BB962C8B-B14F-4D97-AF65-F5344CB8AC3E}">
        <p14:creationId xmlns:p14="http://schemas.microsoft.com/office/powerpoint/2010/main" val="35348777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8E6023D-90E1-4AED-BE24-BC6E629F0D38}"/>
              </a:ext>
            </a:extLst>
          </p:cNvPr>
          <p:cNvSpPr/>
          <p:nvPr/>
        </p:nvSpPr>
        <p:spPr>
          <a:xfrm>
            <a:off x="1" y="0"/>
            <a:ext cx="12191999" cy="6858000"/>
          </a:xfrm>
          <a:prstGeom prst="roundRect">
            <a:avLst/>
          </a:prstGeom>
          <a:solidFill>
            <a:srgbClr val="267C7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1F95728-9280-45F7-8045-051A61DD0D2E}"/>
              </a:ext>
            </a:extLst>
          </p:cNvPr>
          <p:cNvSpPr/>
          <p:nvPr/>
        </p:nvSpPr>
        <p:spPr>
          <a:xfrm>
            <a:off x="3777831" y="2057400"/>
            <a:ext cx="4858603" cy="2485571"/>
          </a:xfrm>
          <a:prstGeom prst="roundRect">
            <a:avLst/>
          </a:prstGeom>
          <a:solidFill>
            <a:srgbClr val="FF99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u="sng" dirty="0">
                <a:highlight>
                  <a:srgbClr val="008000"/>
                </a:highlight>
              </a:rPr>
              <a:t>Thank You</a:t>
            </a:r>
            <a:endParaRPr lang="en-IN" sz="4400" b="1" u="sng" dirty="0">
              <a:highlight>
                <a:srgbClr val="0080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2546932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758</TotalTime>
  <Words>477</Words>
  <Application>Microsoft Office PowerPoint</Application>
  <PresentationFormat>Widescreen</PresentationFormat>
  <Paragraphs>93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Arial Unicode MS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DELL20</dc:creator>
  <cp:lastModifiedBy>nilam</cp:lastModifiedBy>
  <cp:revision>25</cp:revision>
  <dcterms:created xsi:type="dcterms:W3CDTF">2025-11-05T08:32:46Z</dcterms:created>
  <dcterms:modified xsi:type="dcterms:W3CDTF">2025-11-11T05:40:57Z</dcterms:modified>
</cp:coreProperties>
</file>